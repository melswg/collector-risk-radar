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58" r:id="rId6"/>
    <p:sldId id="259" r:id="rId7"/>
    <p:sldId id="262" r:id="rId10"/>
    <p:sldId id="263" r:id="rId11"/>
    <p:sldId id="264" r:id="rId12"/>
    <p:sldId id="265" r:id="rId13"/>
    <p:sldId id="266" r:id="rId14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3572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9867004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396588926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379243754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110331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991771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7C43E-4DBA-143A-06D8-88C9F2AE9F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E92E8A-F1D9-A2C0-7012-FE7B828191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E2F35-B1EF-A166-8604-F4F7CD32F5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C630C4-FF58-1689-22AE-E436319BF3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04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56192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007838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111161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970043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3868541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867F2A-7286-000E-E85F-4B2DD0D578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40343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50590267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306621148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45869256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89900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35511973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9315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15.09.2026</a:t>
            </a:fld>
            <a:endParaRPr lang="ru-RU"/>
          </a:p>
        </p:txBody>
      </p:sp>
      <p:sp>
        <p:nvSpPr>
          <p:cNvPr id="96875545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86311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80823967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083134304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1212153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65916557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442334686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028088070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6683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15.09.2026</a:t>
            </a:fld>
            <a:endParaRPr lang="ru-RU"/>
          </a:p>
        </p:txBody>
      </p:sp>
      <p:sp>
        <p:nvSpPr>
          <p:cNvPr id="12596005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6078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525135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514992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15.09.2026</a:t>
            </a:fld>
            <a:endParaRPr lang="ru-RU"/>
          </a:p>
        </p:txBody>
      </p:sp>
      <p:sp>
        <p:nvSpPr>
          <p:cNvPr id="37596207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43687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2773400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963000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8011813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0733071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15.09.2026</a:t>
            </a:fld>
            <a:endParaRPr lang="ru-RU"/>
          </a:p>
        </p:txBody>
      </p:sp>
      <p:sp>
        <p:nvSpPr>
          <p:cNvPr id="52210746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54287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38567117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96560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5079703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7993435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734934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666863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15.09.2026</a:t>
            </a:fld>
            <a:endParaRPr lang="ru-RU"/>
          </a:p>
        </p:txBody>
      </p:sp>
      <p:sp>
        <p:nvSpPr>
          <p:cNvPr id="118006270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64109668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3352356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00934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15.09.2026</a:t>
            </a:fld>
            <a:endParaRPr lang="ru-RU"/>
          </a:p>
        </p:txBody>
      </p:sp>
      <p:sp>
        <p:nvSpPr>
          <p:cNvPr id="86921467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1141460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51128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00164293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3627915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0081409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15.09.2026</a:t>
            </a:fld>
            <a:endParaRPr lang="ru-RU"/>
          </a:p>
        </p:txBody>
      </p:sp>
      <p:sp>
        <p:nvSpPr>
          <p:cNvPr id="125810840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178249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36002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15.09.2026</a:t>
            </a:fld>
            <a:endParaRPr lang="ru-RU"/>
          </a:p>
        </p:txBody>
      </p:sp>
      <p:sp>
        <p:nvSpPr>
          <p:cNvPr id="184508105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57428829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94612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53228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15.09.2026</a:t>
            </a:fld>
            <a:endParaRPr lang="ru-RU"/>
          </a:p>
        </p:txBody>
      </p:sp>
      <p:sp>
        <p:nvSpPr>
          <p:cNvPr id="15366655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837393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78631199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2768505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114573283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46909853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7589104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5013552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39954275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21437144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30320434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40245355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10541192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052977846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8853881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8752415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832987190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46602076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515156180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697855278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83430003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8424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15.09.2026</a:t>
            </a:fld>
            <a:endParaRPr lang="ru-RU"/>
          </a:p>
        </p:txBody>
      </p:sp>
      <p:sp>
        <p:nvSpPr>
          <p:cNvPr id="14848392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8800044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060125251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70887973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8262163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62312629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24063992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02679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15.09.2026</a:t>
            </a:fld>
            <a:endParaRPr lang="ru-RU"/>
          </a:p>
        </p:txBody>
      </p:sp>
      <p:sp>
        <p:nvSpPr>
          <p:cNvPr id="96069565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456938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9050452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417105513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303487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56466098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6628024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9082075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26569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15.09.2026</a:t>
            </a:fld>
            <a:endParaRPr lang="ru-RU"/>
          </a:p>
        </p:txBody>
      </p:sp>
      <p:sp>
        <p:nvSpPr>
          <p:cNvPr id="84395419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821891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38837583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0347176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85065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280068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5067224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136790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6347484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29334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15.09.2026</a:t>
            </a:fld>
            <a:endParaRPr lang="ru-RU"/>
          </a:p>
        </p:txBody>
      </p:sp>
      <p:sp>
        <p:nvSpPr>
          <p:cNvPr id="20648130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708859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93418716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6221608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87730574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0095980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379471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7812705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641709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293539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0371847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68349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15.09.2026</a:t>
            </a:fld>
            <a:endParaRPr lang="ru-RU"/>
          </a:p>
        </p:txBody>
      </p:sp>
      <p:sp>
        <p:nvSpPr>
          <p:cNvPr id="20146928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639567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53331156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2374496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656623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744171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5385515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140618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4837401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3374754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747475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49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15.09.2026</a:t>
            </a:fld>
            <a:endParaRPr lang="ru-RU"/>
          </a:p>
        </p:txBody>
      </p:sp>
      <p:sp>
        <p:nvSpPr>
          <p:cNvPr id="156423173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22687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5633418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248636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55091777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0762895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03318376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6430496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5075396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59097082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4910646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7686839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93758777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4175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15.09.2026</a:t>
            </a:fld>
            <a:endParaRPr lang="ru-RU"/>
          </a:p>
        </p:txBody>
      </p:sp>
      <p:sp>
        <p:nvSpPr>
          <p:cNvPr id="137830541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98677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6107413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87265482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884610127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98461613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973689036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638219076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67050634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6947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7784959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15.09.2026</a:t>
            </a:fld>
            <a:endParaRPr lang="ru-RU"/>
          </a:p>
        </p:txBody>
      </p:sp>
      <p:sp>
        <p:nvSpPr>
          <p:cNvPr id="107292077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0994029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82818942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30473514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15443864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9037723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1821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15.09.2026</a:t>
            </a:fld>
            <a:endParaRPr lang="ru-RU"/>
          </a:p>
        </p:txBody>
      </p:sp>
      <p:sp>
        <p:nvSpPr>
          <p:cNvPr id="155486673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59584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66478155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8063230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93995505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0461495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959512653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42538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9542424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9023500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099173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0148500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1700577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35603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8267515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886738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157150783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6140183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483466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9563702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7238212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18115852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15.09.2026</a:t>
            </a:fld>
            <a:endParaRPr lang="ru-RU"/>
          </a:p>
        </p:txBody>
      </p:sp>
      <p:sp>
        <p:nvSpPr>
          <p:cNvPr id="74630641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86558276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30568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38352190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267242045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8128991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42215486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15.09.2026</a:t>
            </a:fld>
            <a:endParaRPr lang="ru-RU"/>
          </a:p>
        </p:txBody>
      </p:sp>
      <p:sp>
        <p:nvSpPr>
          <p:cNvPr id="120165886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140998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01273787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01846104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18949626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12098755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243478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71696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0653106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3108181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15.09.2026</a:t>
            </a:fld>
            <a:endParaRPr lang="ru-RU"/>
          </a:p>
        </p:txBody>
      </p:sp>
      <p:sp>
        <p:nvSpPr>
          <p:cNvPr id="173067944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6826309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290544" name="Скругленный прямоугольник 17"/>
          <p:cNvSpPr/>
          <p:nvPr/>
        </p:nvSpPr>
        <p:spPr bwMode="auto">
          <a:xfrm>
            <a:off x="947738" y="1264038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33080583" name="Номер слайда 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55058987" name="Прямоугольник 9"/>
          <p:cNvSpPr/>
          <p:nvPr/>
        </p:nvSpPr>
        <p:spPr bwMode="auto">
          <a:xfrm>
            <a:off x="1260866" y="1573919"/>
            <a:ext cx="2462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b="1">
                <a:solidFill>
                  <a:schemeClr val="bg1"/>
                </a:solidFill>
              </a:rPr>
              <a:t>Титульный слайд </a:t>
            </a:r>
            <a:endParaRPr/>
          </a:p>
        </p:txBody>
      </p:sp>
      <p:sp>
        <p:nvSpPr>
          <p:cNvPr id="767780820" name="Прямоугольник 10"/>
          <p:cNvSpPr/>
          <p:nvPr/>
        </p:nvSpPr>
        <p:spPr bwMode="auto">
          <a:xfrm>
            <a:off x="1260866" y="2328089"/>
            <a:ext cx="2771455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название команды </a:t>
            </a:r>
            <a:endParaRPr/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название задачи</a:t>
            </a:r>
            <a:endParaRPr/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логотип / логотипы постановщика задачи</a:t>
            </a:r>
            <a:endParaRPr/>
          </a:p>
        </p:txBody>
      </p:sp>
      <p:sp>
        <p:nvSpPr>
          <p:cNvPr id="529390862" name="Заголовок 1"/>
          <p:cNvSpPr txBox="1"/>
          <p:nvPr/>
        </p:nvSpPr>
        <p:spPr bwMode="auto">
          <a:xfrm>
            <a:off x="1236717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1200" b="0" i="1">
                <a:solidFill>
                  <a:schemeClr val="accent2"/>
                </a:solidFill>
                <a:latin typeface="Montserrat"/>
              </a:rPr>
              <a:t>Обязательный блок</a:t>
            </a:r>
            <a:endParaRPr/>
          </a:p>
        </p:txBody>
      </p:sp>
      <p:sp>
        <p:nvSpPr>
          <p:cNvPr id="333987012" name="Прямоугольник 19"/>
          <p:cNvSpPr/>
          <p:nvPr/>
        </p:nvSpPr>
        <p:spPr bwMode="auto">
          <a:xfrm>
            <a:off x="1236717" y="5179394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defRPr/>
            </a:pPr>
            <a:r>
              <a:rPr lang="ru-RU" sz="1300" i="1">
                <a:solidFill>
                  <a:schemeClr val="accent2"/>
                </a:solidFill>
              </a:rPr>
              <a:t>Используй для оформления слайд 7</a:t>
            </a:r>
            <a:endParaRPr/>
          </a:p>
        </p:txBody>
      </p:sp>
      <p:sp>
        <p:nvSpPr>
          <p:cNvPr id="1317424982" name="Скругленный прямоугольник 20"/>
          <p:cNvSpPr/>
          <p:nvPr/>
        </p:nvSpPr>
        <p:spPr bwMode="auto">
          <a:xfrm>
            <a:off x="4667456" y="1264038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03987791" name="Прямоугольник 21"/>
          <p:cNvSpPr/>
          <p:nvPr/>
        </p:nvSpPr>
        <p:spPr bwMode="auto">
          <a:xfrm>
            <a:off x="4982635" y="1573919"/>
            <a:ext cx="2694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b="1">
                <a:solidFill>
                  <a:schemeClr val="bg1"/>
                </a:solidFill>
              </a:rPr>
              <a:t>Слайды про задачу </a:t>
            </a:r>
            <a:br>
              <a:rPr lang="ru-RU" b="1">
                <a:solidFill>
                  <a:schemeClr val="bg1"/>
                </a:solidFill>
              </a:rPr>
            </a:br>
            <a:r>
              <a:rPr lang="ru-RU" b="1">
                <a:solidFill>
                  <a:schemeClr val="bg1"/>
                </a:solidFill>
              </a:rPr>
              <a:t>и команду</a:t>
            </a:r>
            <a:endParaRPr/>
          </a:p>
        </p:txBody>
      </p:sp>
      <p:sp>
        <p:nvSpPr>
          <p:cNvPr id="363433458" name="Прямоугольник 22"/>
          <p:cNvSpPr/>
          <p:nvPr/>
        </p:nvSpPr>
        <p:spPr bwMode="auto">
          <a:xfrm>
            <a:off x="5014232" y="2328089"/>
            <a:ext cx="2771455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описание сути и уникальности решения</a:t>
            </a:r>
            <a:endParaRPr/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план по дальнейшему развитию решения</a:t>
            </a:r>
            <a:endParaRPr/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ФИО и контактные данные всех участников</a:t>
            </a:r>
            <a:endParaRPr/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роли в команде</a:t>
            </a:r>
            <a:endParaRPr/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сложности и вызовы во время решения задачи</a:t>
            </a:r>
            <a:endParaRPr/>
          </a:p>
        </p:txBody>
      </p:sp>
      <p:sp>
        <p:nvSpPr>
          <p:cNvPr id="531952858" name="Заголовок 1"/>
          <p:cNvSpPr txBox="1"/>
          <p:nvPr/>
        </p:nvSpPr>
        <p:spPr bwMode="auto">
          <a:xfrm>
            <a:off x="4958485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1200" b="0" i="1">
                <a:solidFill>
                  <a:schemeClr val="accent2"/>
                </a:solidFill>
                <a:latin typeface="Montserrat"/>
              </a:rPr>
              <a:t>Обязательный блок</a:t>
            </a:r>
            <a:endParaRPr/>
          </a:p>
        </p:txBody>
      </p:sp>
      <p:sp>
        <p:nvSpPr>
          <p:cNvPr id="1144030156" name="Прямоугольник 26"/>
          <p:cNvSpPr/>
          <p:nvPr/>
        </p:nvSpPr>
        <p:spPr bwMode="auto">
          <a:xfrm>
            <a:off x="4982634" y="5159249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defRPr/>
            </a:pPr>
            <a:r>
              <a:rPr lang="ru-RU" sz="1300" i="1">
                <a:solidFill>
                  <a:schemeClr val="accent2"/>
                </a:solidFill>
              </a:rPr>
              <a:t>Используй для оформления слайды 8-11</a:t>
            </a:r>
            <a:endParaRPr/>
          </a:p>
        </p:txBody>
      </p:sp>
      <p:sp>
        <p:nvSpPr>
          <p:cNvPr id="1250115991" name="Скругленный прямоугольник 27"/>
          <p:cNvSpPr/>
          <p:nvPr/>
        </p:nvSpPr>
        <p:spPr bwMode="auto">
          <a:xfrm>
            <a:off x="8362126" y="1264038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976BA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62340981" name="Прямоугольник 28"/>
          <p:cNvSpPr/>
          <p:nvPr/>
        </p:nvSpPr>
        <p:spPr bwMode="auto">
          <a:xfrm>
            <a:off x="8677305" y="1573919"/>
            <a:ext cx="1919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b="1">
                <a:solidFill>
                  <a:schemeClr val="bg1"/>
                </a:solidFill>
              </a:rPr>
              <a:t>Презентация </a:t>
            </a:r>
            <a:br>
              <a:rPr lang="ru-RU" b="1">
                <a:solidFill>
                  <a:schemeClr val="bg1"/>
                </a:solidFill>
              </a:rPr>
            </a:br>
            <a:r>
              <a:rPr lang="ru-RU" b="1">
                <a:solidFill>
                  <a:schemeClr val="bg1"/>
                </a:solidFill>
              </a:rPr>
              <a:t>решения</a:t>
            </a:r>
            <a:endParaRPr/>
          </a:p>
        </p:txBody>
      </p:sp>
      <p:sp>
        <p:nvSpPr>
          <p:cNvPr id="365398358" name="Прямоугольник 30"/>
          <p:cNvSpPr/>
          <p:nvPr/>
        </p:nvSpPr>
        <p:spPr bwMode="auto">
          <a:xfrm>
            <a:off x="8677305" y="2328089"/>
            <a:ext cx="277145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рекомендуемая структура полной презентации решения приведена </a:t>
            </a:r>
            <a:br>
              <a:rPr lang="ru-RU" sz="1300">
                <a:solidFill>
                  <a:schemeClr val="bg1"/>
                </a:solidFill>
              </a:rPr>
            </a:br>
            <a:r>
              <a:rPr lang="ru-RU" sz="1300">
                <a:solidFill>
                  <a:schemeClr val="bg1"/>
                </a:solidFill>
              </a:rPr>
              <a:t>на следующем слайде</a:t>
            </a:r>
            <a:endParaRPr/>
          </a:p>
          <a:p>
            <a:pPr marL="285750" indent="-285750">
              <a:buClr>
                <a:srgbClr val="FD0C50"/>
              </a:buClr>
              <a:buFont typeface="Arial"/>
              <a:buChar char="•"/>
              <a:defRPr/>
            </a:pPr>
            <a:endParaRPr lang="ru-RU" sz="1300">
              <a:solidFill>
                <a:schemeClr val="bg1"/>
              </a:solidFill>
            </a:endParaRPr>
          </a:p>
          <a:p>
            <a:pPr marL="285750" indent="-285750">
              <a:buClr>
                <a:srgbClr val="FD0C50"/>
              </a:buClr>
              <a:buFont typeface="Arial"/>
              <a:buChar char="•"/>
              <a:defRPr/>
            </a:pPr>
            <a:r>
              <a:rPr lang="ru-RU" sz="1300">
                <a:solidFill>
                  <a:schemeClr val="bg1"/>
                </a:solidFill>
              </a:rPr>
              <a:t>этот блок должен быть размещен после описанных общих  обязательных слайдов</a:t>
            </a:r>
            <a:endParaRPr/>
          </a:p>
        </p:txBody>
      </p:sp>
      <p:sp>
        <p:nvSpPr>
          <p:cNvPr id="1427903133" name="Прямоугольник 39"/>
          <p:cNvSpPr/>
          <p:nvPr/>
        </p:nvSpPr>
        <p:spPr bwMode="auto">
          <a:xfrm>
            <a:off x="8677305" y="5159248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defRPr/>
            </a:pPr>
            <a:r>
              <a:rPr lang="ru-RU" sz="1300" i="1">
                <a:solidFill>
                  <a:schemeClr val="accent3">
                    <a:lumMod val="20000"/>
                    <a:lumOff val="80000"/>
                  </a:schemeClr>
                </a:solidFill>
              </a:rPr>
              <a:t>Используй для оформления шаблоны на слайдах 12-29</a:t>
            </a:r>
            <a:endParaRPr/>
          </a:p>
        </p:txBody>
      </p:sp>
      <p:sp>
        <p:nvSpPr>
          <p:cNvPr id="911595480" name="Скругленный прямоугольник 1"/>
          <p:cNvSpPr/>
          <p:nvPr/>
        </p:nvSpPr>
        <p:spPr bwMode="auto"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7622801" name="Заголовок 1"/>
          <p:cNvSpPr txBox="1"/>
          <p:nvPr/>
        </p:nvSpPr>
        <p:spPr bwMode="auto">
          <a:xfrm>
            <a:off x="1260866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2000">
                <a:solidFill>
                  <a:schemeClr val="bg1"/>
                </a:solidFill>
                <a:latin typeface="Montserrat"/>
              </a:rPr>
              <a:t>СОДЕРЖАНИЕ ПРЕЗЕНТАЦИИ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991779" name="Номер слайда 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21693674" name="Текст 62"/>
          <p:cNvSpPr>
            <a:spLocks noGrp="1"/>
          </p:cNvSpPr>
          <p:nvPr>
            <p:ph type="body" sz="quarter" idx="27"/>
          </p:nvPr>
        </p:nvSpPr>
        <p:spPr bwMode="auto">
          <a:xfrm>
            <a:off x="1528561" y="2649897"/>
            <a:ext cx="1817355" cy="81617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Подробное описание решения</a:t>
            </a:r>
            <a:endParaRPr/>
          </a:p>
        </p:txBody>
      </p:sp>
      <p:sp>
        <p:nvSpPr>
          <p:cNvPr id="1122468513" name="Текст 63"/>
          <p:cNvSpPr>
            <a:spLocks noGrp="1"/>
          </p:cNvSpPr>
          <p:nvPr>
            <p:ph type="body" sz="quarter" idx="33"/>
          </p:nvPr>
        </p:nvSpPr>
        <p:spPr bwMode="auto">
          <a:xfrm>
            <a:off x="4110879" y="2649897"/>
            <a:ext cx="1850919" cy="77603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Маркетинговая часть решения</a:t>
            </a:r>
            <a:endParaRPr/>
          </a:p>
        </p:txBody>
      </p:sp>
      <p:sp>
        <p:nvSpPr>
          <p:cNvPr id="1186890914" name="Текст 64"/>
          <p:cNvSpPr>
            <a:spLocks noGrp="1"/>
          </p:cNvSpPr>
          <p:nvPr>
            <p:ph type="body" sz="quarter" idx="35"/>
          </p:nvPr>
        </p:nvSpPr>
        <p:spPr bwMode="auto">
          <a:xfrm>
            <a:off x="6693198" y="2649897"/>
            <a:ext cx="1830508" cy="81617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Бизнесовая составляющая решения</a:t>
            </a:r>
            <a:endParaRPr/>
          </a:p>
        </p:txBody>
      </p:sp>
      <p:sp>
        <p:nvSpPr>
          <p:cNvPr id="1103745365" name="Текст 65"/>
          <p:cNvSpPr>
            <a:spLocks noGrp="1"/>
          </p:cNvSpPr>
          <p:nvPr>
            <p:ph type="body" sz="quarter" idx="37"/>
          </p:nvPr>
        </p:nvSpPr>
        <p:spPr bwMode="auto">
          <a:xfrm>
            <a:off x="1528562" y="4757145"/>
            <a:ext cx="1817354" cy="80061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Техническая проработка решения</a:t>
            </a:r>
            <a:endParaRPr/>
          </a:p>
        </p:txBody>
      </p:sp>
      <p:sp>
        <p:nvSpPr>
          <p:cNvPr id="487271292" name="Текст 66"/>
          <p:cNvSpPr>
            <a:spLocks noGrp="1"/>
          </p:cNvSpPr>
          <p:nvPr>
            <p:ph type="body" sz="quarter" idx="39"/>
          </p:nvPr>
        </p:nvSpPr>
        <p:spPr bwMode="auto">
          <a:xfrm>
            <a:off x="4078087" y="4757145"/>
            <a:ext cx="1883712" cy="80061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Уникальность решения</a:t>
            </a:r>
            <a:endParaRPr/>
          </a:p>
        </p:txBody>
      </p:sp>
      <p:sp>
        <p:nvSpPr>
          <p:cNvPr id="669045208" name="Текст 66"/>
          <p:cNvSpPr txBox="1"/>
          <p:nvPr/>
        </p:nvSpPr>
        <p:spPr bwMode="auto">
          <a:xfrm>
            <a:off x="6659232" y="4757145"/>
            <a:ext cx="1864473" cy="800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>
                <a:solidFill>
                  <a:schemeClr val="tx1"/>
                </a:solidFill>
              </a:rPr>
              <a:t>Планы </a:t>
            </a:r>
            <a:br>
              <a:rPr lang="ru-RU" sz="1600">
                <a:solidFill>
                  <a:schemeClr val="tx1"/>
                </a:solidFill>
              </a:rPr>
            </a:br>
            <a:r>
              <a:rPr lang="ru-RU" sz="1600">
                <a:solidFill>
                  <a:schemeClr val="tx1"/>
                </a:solidFill>
              </a:rPr>
              <a:t>по развитию решения</a:t>
            </a:r>
            <a:endParaRPr/>
          </a:p>
        </p:txBody>
      </p:sp>
      <p:sp>
        <p:nvSpPr>
          <p:cNvPr id="1660490170" name="Заголовок 1"/>
          <p:cNvSpPr txBox="1"/>
          <p:nvPr/>
        </p:nvSpPr>
        <p:spPr bwMode="auto">
          <a:xfrm>
            <a:off x="1542416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Montserrat"/>
              </a:rPr>
              <a:t>01</a:t>
            </a:r>
            <a:endParaRPr/>
          </a:p>
        </p:txBody>
      </p:sp>
      <p:sp>
        <p:nvSpPr>
          <p:cNvPr id="571220787" name="Заголовок 1"/>
          <p:cNvSpPr txBox="1"/>
          <p:nvPr/>
        </p:nvSpPr>
        <p:spPr bwMode="auto">
          <a:xfrm>
            <a:off x="4110879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Montserrat"/>
              </a:rPr>
              <a:t>02</a:t>
            </a:r>
            <a:endParaRPr/>
          </a:p>
        </p:txBody>
      </p:sp>
      <p:sp>
        <p:nvSpPr>
          <p:cNvPr id="1051425822" name="Заголовок 1"/>
          <p:cNvSpPr txBox="1"/>
          <p:nvPr/>
        </p:nvSpPr>
        <p:spPr bwMode="auto">
          <a:xfrm>
            <a:off x="6718121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Montserrat"/>
              </a:rPr>
              <a:t>03</a:t>
            </a:r>
            <a:endParaRPr/>
          </a:p>
        </p:txBody>
      </p:sp>
      <p:sp>
        <p:nvSpPr>
          <p:cNvPr id="2058637529" name="Заголовок 1"/>
          <p:cNvSpPr txBox="1"/>
          <p:nvPr/>
        </p:nvSpPr>
        <p:spPr bwMode="auto">
          <a:xfrm>
            <a:off x="1542416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Montserrat"/>
              </a:rPr>
              <a:t>04</a:t>
            </a:r>
            <a:endParaRPr/>
          </a:p>
        </p:txBody>
      </p:sp>
      <p:sp>
        <p:nvSpPr>
          <p:cNvPr id="1155373952" name="Заголовок 1"/>
          <p:cNvSpPr txBox="1"/>
          <p:nvPr/>
        </p:nvSpPr>
        <p:spPr bwMode="auto">
          <a:xfrm>
            <a:off x="4110879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Montserrat"/>
              </a:rPr>
              <a:t>05</a:t>
            </a:r>
            <a:endParaRPr/>
          </a:p>
        </p:txBody>
      </p:sp>
      <p:sp>
        <p:nvSpPr>
          <p:cNvPr id="1332820530" name="Заголовок 1"/>
          <p:cNvSpPr txBox="1"/>
          <p:nvPr/>
        </p:nvSpPr>
        <p:spPr bwMode="auto">
          <a:xfrm>
            <a:off x="6718121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3600">
                <a:solidFill>
                  <a:schemeClr val="accent1"/>
                </a:solidFill>
                <a:latin typeface="Montserrat"/>
              </a:rPr>
              <a:t>06</a:t>
            </a:r>
            <a:endParaRPr/>
          </a:p>
        </p:txBody>
      </p:sp>
      <p:sp>
        <p:nvSpPr>
          <p:cNvPr id="58315116" name="Текст 62"/>
          <p:cNvSpPr txBox="1"/>
          <p:nvPr/>
        </p:nvSpPr>
        <p:spPr bwMode="auto">
          <a:xfrm>
            <a:off x="1260866" y="1186647"/>
            <a:ext cx="3977624" cy="449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/>
            </a:pPr>
            <a:r>
              <a:rPr lang="ru-RU" sz="1600" b="1">
                <a:solidFill>
                  <a:schemeClr val="tx1"/>
                </a:solidFill>
                <a:latin typeface="Montserrat"/>
              </a:rPr>
              <a:t>Для продуктовых решений</a:t>
            </a:r>
            <a:endParaRPr/>
          </a:p>
        </p:txBody>
      </p:sp>
      <p:sp>
        <p:nvSpPr>
          <p:cNvPr id="1864206532" name="Скругленный прямоугольник 9"/>
          <p:cNvSpPr/>
          <p:nvPr/>
        </p:nvSpPr>
        <p:spPr bwMode="auto">
          <a:xfrm>
            <a:off x="3904439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02125443" name="Скругленный прямоугольник 10"/>
          <p:cNvSpPr/>
          <p:nvPr/>
        </p:nvSpPr>
        <p:spPr bwMode="auto">
          <a:xfrm>
            <a:off x="6499358" y="1793495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76125161" name="Скругленный прямоугольник 11"/>
          <p:cNvSpPr/>
          <p:nvPr/>
        </p:nvSpPr>
        <p:spPr bwMode="auto">
          <a:xfrm>
            <a:off x="1346590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12542267" name="Скругленный прямоугольник 12"/>
          <p:cNvSpPr/>
          <p:nvPr/>
        </p:nvSpPr>
        <p:spPr bwMode="auto">
          <a:xfrm>
            <a:off x="3904439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7823257" name="Скругленный прямоугольник 13"/>
          <p:cNvSpPr/>
          <p:nvPr/>
        </p:nvSpPr>
        <p:spPr bwMode="auto">
          <a:xfrm>
            <a:off x="6499358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19718394" name="Скругленный прямоугольник 14"/>
          <p:cNvSpPr/>
          <p:nvPr/>
        </p:nvSpPr>
        <p:spPr bwMode="auto">
          <a:xfrm>
            <a:off x="1346590" y="3844716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10034382" name="Скругленный прямоугольник 1"/>
          <p:cNvSpPr/>
          <p:nvPr/>
        </p:nvSpPr>
        <p:spPr bwMode="auto">
          <a:xfrm>
            <a:off x="947738" y="407926"/>
            <a:ext cx="736187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73735385" name="Заголовок 1"/>
          <p:cNvSpPr txBox="1"/>
          <p:nvPr/>
        </p:nvSpPr>
        <p:spPr bwMode="auto">
          <a:xfrm>
            <a:off x="1260866" y="451168"/>
            <a:ext cx="7262838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2000">
                <a:solidFill>
                  <a:schemeClr val="bg1"/>
                </a:solidFill>
                <a:latin typeface="Montserrat"/>
              </a:rPr>
              <a:t>РЕКОМЕНДУЕМАЯ СТРУКТУРА ПРЕЗЕНТАЦИИ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00201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endParaRPr lang="ru-RU" sz="4800"/>
          </a:p>
        </p:txBody>
      </p:sp>
      <p:sp>
        <p:nvSpPr>
          <p:cNvPr id="1719983470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1443900192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endParaRPr lang="ru-RU"/>
          </a:p>
        </p:txBody>
      </p:sp>
      <p:sp>
        <p:nvSpPr>
          <p:cNvPr id="1985290420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117035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771720906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936075074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Краткое описание решения: автономный сервис предиктивной аналитики для диспетчера ОДС. Он принимает события датчиков, считает вероятность новой тревожной записи по каналу на 24 часа, показывает объект, горизонт и источник расчёта, а решение о выезде или мониторинге остаётся за человеком. Уникальность в том, что прогноз строится по реальной истории каналов заказчика, а не по синтетике, и все ограничения данных показаны прямо в интерфейсе.</a:t>
            </a:r>
          </a:p>
        </p:txBody>
      </p:sp>
      <p:sp>
        <p:nvSpPr>
          <p:cNvPr id="190050689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Что делает ваше решение уникальным или инновационным?</a:t>
            </a:r>
            <a:endParaRPr/>
          </a:p>
        </p:txBody>
      </p:sp>
      <p:sp>
        <p:nvSpPr>
          <p:cNvPr id="1764323149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Краткое описание решения: автономный сервис предиктивной аналитики для диспетчера ОДС. Он принимает события датчиков, считает вероятность новой тревожной записи по каналу на 24 часа, показывает объект, горизонт и источник расчёта, а решение о выезде или мониторинге остаётся за человеком. Уникальность в том, что прогноз строится по реальной истории каналов заказчика, а не по синтетике, и все ограничения данных показаны прямо в интерфейсе.</a:t>
            </a:r>
          </a:p>
        </p:txBody>
      </p:sp>
      <p:sp>
        <p:nvSpPr>
          <p:cNvPr id="960123443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2004398219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96282028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0453073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169693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3995646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458769943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В чем суть вашего решения</a:t>
            </a:r>
            <a:endParaRPr/>
          </a:p>
        </p:txBody>
      </p:sp>
      <p:sp>
        <p:nvSpPr>
          <p:cNvPr id="1958169919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830745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01770585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878709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451722209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9292886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734268655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822993265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40558049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910038354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472338422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3660643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77101133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171084019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5540554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5769206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96094068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1642772006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708322761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1110801992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073847130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1508286412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862349397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1394533195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572351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8712592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96773386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1308410478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  <a:endParaRPr/>
          </a:p>
        </p:txBody>
      </p:sp>
      <p:sp>
        <p:nvSpPr>
          <p:cNvPr id="194675919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87129596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которые повлияли на ход вашего участия в хакатоне.</a:t>
            </a:r>
            <a:endParaRPr/>
          </a:p>
        </p:txBody>
      </p:sp>
      <p:sp>
        <p:nvSpPr>
          <p:cNvPr id="1250984276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901791481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  <a:endParaRPr/>
          </a:p>
        </p:txBody>
      </p:sp>
      <p:sp>
        <p:nvSpPr>
          <p:cNvPr id="1249559848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2134341046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5387402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4489680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25116081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111997522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394908179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138591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3603822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0309353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4417670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3500640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Опишите в чем техническая составляющая вашего решения. </a:t>
            </a:r>
            <a:endParaRPr/>
          </a:p>
        </p:txBody>
      </p:sp>
      <p:sp>
        <p:nvSpPr>
          <p:cNvPr id="2062832969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Опишите ваши идеи по дальнейшему применению, развитию или внедрению </a:t>
            </a:r>
            <a:br>
              <a:rPr lang="ru-RU" sz="1400">
                <a:solidFill>
                  <a:schemeClr val="tx1"/>
                </a:solidFill>
              </a:rPr>
            </a:br>
            <a:r>
              <a:rPr lang="ru-RU" sz="1400">
                <a:solidFill>
                  <a:schemeClr val="tx1"/>
                </a:solidFill>
              </a:rPr>
              <a:t>проекта.</a:t>
            </a:r>
            <a:endParaRPr/>
          </a:p>
          <a:p>
            <a:pPr marL="0" indent="0">
              <a:buNone/>
              <a:defRPr/>
            </a:pP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127609273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16722704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12261949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Проблема и что делает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В коллекторах тысячи датчиков, диспетчер видит поток событий, а не риск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Сервис считает вероятность новой тревожной записи по каналу на 24 часа вперёд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Диспетчер получает карточку с источником расчёта, окном прогноза и показаниями канала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Решение принимает человек: сервис не управляет оборудованием и не признаёт аварию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Backend: FastAPI, роли и RBAC, аудит действий, REST API, SQLite локально и PostgreSQL на стенде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ML-контур: CatBoost incident_24h.cbm, 19 признаков канала, isotonic-калибратор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Frontend: React + TypeScript, карта MapLibre, очередь сигналов, карточка прогноза и журнал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Доставка: Telegram Bot API, очередь notification_deliveries, отдельный процесс-поллер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Проверки: 67 backend-тестов, 16 frontend-тестов, production-сборка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Данные заказчика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Получено: 95 объектов, 11 485 каналов, справочник состояний, журнал за 01.08.2026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Получено: восемь годовых архивов, 313 546 017 строк, и часовая витрина all_years_hourly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Объекты без координат: сервис не рисует вымышленные точки на карте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Не получено: журнал ОДС, погода, статусы заявок, геометрия трасс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Отсутствующие данные показаны как ограничение, а не как нулевые значения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ML: 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Цель: новая тревожная запись на спокойном канале после расчётного часа, не дальше 24 часов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Признаки: паспорт канала, события часа, метан и его сдвиг, календарь, история тревог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Сплит по времени: обучение 2019-2024 без 2021, калибровка 2025, проверка 2026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Граница часа: при запросе ровно в 09:00 берётся завершённый час 08:00-09:00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API сохраняет окно прогноза в forecast_from и valid_until, а не «24 часа от запроса»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ML: метрики на отложенном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1 145 342 спокойных часа, доля положительного класса 2,91%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PR-AUC 0,284, ROC-AUC 0,862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Brier 0,02421 без калибровки и 0,024442 с калибратором 2025, log loss 0,102497 и 0,101322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На объект-днях: Precision 0,723, Recall 0,464, F1 0,566 при доле дней с фактом 19,82%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Честная оговорка: перенос калибровки 2025 на 2026 по Brier не подтверждён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Интерфейс и сквозной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Роли: диспетчер, техник, руководитель, аналитик, администратор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Событие → признаки канала → модель → сохранённый прогноз → карточка → решение диспетчера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Карточка показывает источник ML, окно прогноза, канал и отсутствие порога действия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Решение с причиной из справочника сохраняется и попадает в журнал аудита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Forecast и правила не смешиваются: rules и STUB помечены отдельно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Что проверено и что не доказано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Проверено: сквозной путь на реальных справочниках и журнале заказчика, карточка и решение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Проверено: пересчёт калибровки воспроизводит отгруженные числа до знака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Проверено: Telegram-доставка вживую, включая автоматическую отправку поллером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Не проверено: PostgreSQL/Redis на чистом стенде, LDAP/AD, TLS, нагрузка, резервное восстановление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Не доказано: качество на подтверждённых инцидентах, координаты, непрерывный живой поток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Дальнейшее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Согласовать эксплуатационный порог онлайн-канала и включить уведомления по нему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Подключить остальные выходы модели к API после согласования контракта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Получить журнал ОДС и погоду: без них нет подтверждённой разметки исходов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Развернуть целевой контур: PostgreSQL, Redis, LDAP/AD, резервное копирование, мониторинг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Перенести прототип на инфраструктуру заказчика с обезличиванием на стороне источника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3882"/>
                </a:solidFill>
                <a:latin typeface="Montserrat"/>
              </a:rPr>
              <a:t>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Репозиторий: https://github.com/melswg/collector-risk-radar (ветка develop)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README: локальный запуск, сквозной ML-пример, проверка на архиве заказчика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Сопроводительная документация: docs/Коллекторский_радар_сопроводительная_документация.docx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Статус передачи и ограничения: docs/HANDOFF_STATUS.md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Montserrat"/>
              </a:rPr>
              <a:t>• Чек-лист требований с проверками: REQUIREMENTS_CHECKLIST.md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2026-09-15T17:21:58Z</dcterms:modified>
</cp:coreProperties>
</file>